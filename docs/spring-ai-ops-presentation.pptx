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🍃  Spring AI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A29E"/>
                </a:solidFill>
              </a:rPr>
              <a:t>AI 기반 운영 자동화 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" y="1920240"/>
            <a:ext cx="32004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" y="1920240"/>
            <a:ext cx="3200400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" y="2084831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" y="26791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302D"/>
                </a:solidFill>
              </a:rPr>
              <a:t>Code Risk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" y="3072384"/>
            <a:ext cx="3017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</a:rPr>
              <a:t>Git 전체 소스 AI 보안·품질 점검
(Map-Reduce 전략)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4276" y="1920240"/>
            <a:ext cx="32004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4276" y="1920240"/>
            <a:ext cx="3200400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4276" y="2084831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4276" y="26791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302D"/>
                </a:solidFill>
              </a:rPr>
              <a:t>Code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3072384"/>
            <a:ext cx="3017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</a:rPr>
              <a:t>GitHub / GitLab push 자동 리뷰
(단일 엔드포인트, 자동 분기)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012" y="1920240"/>
            <a:ext cx="32004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7012" y="1920240"/>
            <a:ext cx="3200400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7012" y="2084831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012" y="26791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302D"/>
                </a:solidFill>
              </a:rPr>
              <a:t>Error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452" y="3072384"/>
            <a:ext cx="3017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</a:rPr>
              <a:t>Grafana + Loki + Prometheus
+ 소스 snippet AI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55555"/>
                </a:solidFill>
              </a:rPr>
              <a:t>Spring Boot 3.4 · Kotlin · Spring AI 1.1.0 · OpenAI / Anthropic / DeepSeek · Loki ·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프로젝트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프로젝트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Spring AI Ops는 모니터링 · 형상관리 도구체인을 LLM과 연결하는 AI 기반 운영 자동화 도구입니다.
Git 저장소 코드 분석, push 기반 코드 리뷰, Grafana 장애 자동 대응 결과를 WebSocket 대시보드로 실시간 스트리밍합니다.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514600" cy="640080"/>
          </a:xfrm>
          <a:prstGeom prst="rect">
            <a:avLst/>
          </a:prstGeom>
          <a:solidFill>
            <a:srgbClr val="34302D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23317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828800"/>
            <a:ext cx="4160520" cy="640080"/>
          </a:xfrm>
          <a:prstGeom prst="rect">
            <a:avLst/>
          </a:prstGeom>
          <a:solidFill>
            <a:srgbClr val="34302D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865376"/>
            <a:ext cx="3977639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입력 소스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828800"/>
            <a:ext cx="4343400" cy="640080"/>
          </a:xfrm>
          <a:prstGeom prst="rect">
            <a:avLst/>
          </a:prstGeom>
          <a:solidFill>
            <a:srgbClr val="34302D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865376"/>
            <a:ext cx="41605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LLM 출력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68880"/>
            <a:ext cx="2514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05456"/>
            <a:ext cx="23317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Code Risk 분석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46888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505456"/>
            <a:ext cx="3977639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Git 저장소 전체 소스
(단일 / Map-Reduce 자동 선택)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468880"/>
            <a:ext cx="4343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505456"/>
            <a:ext cx="41605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보안 취약점·개선 권고 리포트 + JSON 이슈 목록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08960"/>
            <a:ext cx="2514600" cy="640080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45536"/>
            <a:ext cx="23317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자동 Code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108960"/>
            <a:ext cx="4160520" cy="640080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145536"/>
            <a:ext cx="3977639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GitHub / GitLab push
(단일 엔드포인트, 자동 분기)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108960"/>
            <a:ext cx="4343400" cy="640080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45536"/>
            <a:ext cx="41605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코드 품질·보안·잠재버그·개선 제안 리뷰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49039"/>
            <a:ext cx="2514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85615"/>
            <a:ext cx="23317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Error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749039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3785615"/>
            <a:ext cx="3977639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Grafana Alert + Loki 로그
+ Prometheus 메트릭(선택) + 소스 snippet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749039"/>
            <a:ext cx="4343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785615"/>
            <a:ext cx="416052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302D"/>
                </a:solidFill>
              </a:rPr>
              <a:t>근본원인·영향범위·조치방법 + 소스 수정 권고안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80560"/>
            <a:ext cx="1143000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590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4302D"/>
                </a:solidFill>
              </a:rPr>
              <a:t>핵심 설계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56048"/>
            <a:ext cx="2880360" cy="1664208"/>
          </a:xfrm>
          <a:prstGeom prst="rect">
            <a:avLst/>
          </a:prstGeom>
          <a:solidFill>
            <a:srgbClr val="F1F8E9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956048"/>
            <a:ext cx="2880360" cy="6400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0840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302D"/>
                </a:solidFill>
              </a:rPr>
              <a:t>🔄  동적 LLM 전환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68112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OpenAI / Anthropic / DeepSeek
재시작 없이 UI에서 즉시 전환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4956048"/>
            <a:ext cx="2880360" cy="1664208"/>
          </a:xfrm>
          <a:prstGeom prst="rect">
            <a:avLst/>
          </a:prstGeom>
          <a:solidFill>
            <a:srgbClr val="F1F8E9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7560" y="4956048"/>
            <a:ext cx="2880360" cy="6400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0840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302D"/>
                </a:solidFill>
              </a:rPr>
              <a:t>🔒  AES-256-GCM 암호화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468112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API Key · Git Token
Redis 저장 전 자동 암호화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956048"/>
            <a:ext cx="2880360" cy="1664208"/>
          </a:xfrm>
          <a:prstGeom prst="rect">
            <a:avLst/>
          </a:prstGeom>
          <a:solidFill>
            <a:srgbClr val="F1F8E9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4956048"/>
            <a:ext cx="2880360" cy="6400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0840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302D"/>
                </a:solidFill>
              </a:rPr>
              <a:t>⚡  Virtual Thread 비동기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468112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Webhook 즉시 반환
Java 21 가상 스레드로 분석 처리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4956048"/>
            <a:ext cx="2880360" cy="1664208"/>
          </a:xfrm>
          <a:prstGeom prst="rect">
            <a:avLst/>
          </a:prstGeom>
          <a:solidFill>
            <a:srgbClr val="F1F8E9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81160" y="4956048"/>
            <a:ext cx="2880360" cy="6400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50840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302D"/>
                </a:solidFill>
              </a:rPr>
              <a:t>📦  RDB 미사용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5468112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Redis 단일 저장소
Embedded Redis 자동 기동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Code Risk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🔍  Code Risk 분석 — 기능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대시보드에서 버튼 클릭 한 번으로 등록된 Git 저장소 전체를 AI가 검토하여
보안 취약점 · 코드 품질 이슈 · 개선 권고사항을 파일별로 실시간 보고합니다.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760720" cy="3200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주요 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67128"/>
            <a:ext cx="576072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JGit으로 저장소 클론 (GitHub / GitLab 토큰 자동 적용)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3347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27,000 토큰 임계값 기준 → 단일 호출 또는 Map-Reduce 자동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44952"/>
            <a:ext cx="576072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72384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Map: 청크 분할 → 최대 3개 병렬 LLM 분석 (호출 간 1,000ms 지연)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83864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11296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Reduce: 청크 결과 통합 → 최종 LLM 호출 (중복 제거 · 전체 요약)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22776"/>
            <a:ext cx="576072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0208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이슈: 파일 · 라인 · 심각도(HIGH/MEDIUM/LOW) · 코드 스니펫 · 권고사항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61688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8912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Persistent Repository Storage 지원 (반복 checkout 비용 절감)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0600"/>
            <a:ext cx="576072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28031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분석 진행 상황 WebSocket 실시간 스트리밍 (/topic/analysis/status)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39512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66944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malformed JSON 복구 파서 — 부분 데이터 최대 복구 (fallback 파서)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5394960" cy="3200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8470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심각도 분류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67712"/>
            <a:ext cx="5394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267712"/>
            <a:ext cx="822960" cy="804672"/>
          </a:xfrm>
          <a:prstGeom prst="rect">
            <a:avLst/>
          </a:prstGeom>
          <a:solidFill>
            <a:srgbClr val="F2DED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4505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94442"/>
                </a:solidFill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395728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보안 취약점, SQL Injection, 민감정보 노출
→ 즉시 수정 필요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163824"/>
            <a:ext cx="5394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163824"/>
            <a:ext cx="822960" cy="804672"/>
          </a:xfrm>
          <a:prstGeom prst="rect">
            <a:avLst/>
          </a:prstGeom>
          <a:solidFill>
            <a:srgbClr val="FCF8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34670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6D3B"/>
                </a:solidFill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29184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잠재 버그 · 성능 이슈
→ 우선순위 높게 처리 권고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059935"/>
            <a:ext cx="5394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059935"/>
            <a:ext cx="822960" cy="804672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24281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187951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코드 스타일 · 가독성 · 마이너 개선
→ 리팩터링 기회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047488"/>
            <a:ext cx="539496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1572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302D"/>
                </a:solidFill>
              </a:rPr>
              <a:t>Persistent Repository 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504688"/>
            <a:ext cx="5394960" cy="1234440"/>
          </a:xfrm>
          <a:prstGeom prst="rect">
            <a:avLst/>
          </a:prstGeom>
          <a:solidFill>
            <a:srgbClr val="F1F8E9"/>
          </a:solidFill>
          <a:ln w="63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559552"/>
            <a:ext cx="52120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repository.stored=true 설정 시 로컬 저장소를 보관
• Redis lock 기반 branch sync → 반복 clone 비용 제거
• 동기화 실패 시 임시 clone 방식으로 자동 fallback
• app 삭제 / 이름 변경 시 저장소 자동 정리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Code Risk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🔍  Code Risk 분석 — 처리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1900" y="1005840"/>
            <a:ext cx="233172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5052" y="1042416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대시보드 — 분석 실행 버튼 클릭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71900" y="1536192"/>
            <a:ext cx="233172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5052" y="1572768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 /api/code-risk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47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1900" y="2066544"/>
            <a:ext cx="233172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5052" y="2103120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JGit으로 저장소 준비
(persistent sync 또는 임시 clone)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780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71900" y="2596896"/>
            <a:ext cx="233172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5052" y="2633472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소스 파일 수집 → 토큰 수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090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374136"/>
            <a:ext cx="3657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5555"/>
                </a:solidFill>
              </a:rPr>
              <a:t>토큰 수에 따라 자동 분기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639312"/>
            <a:ext cx="2331720" cy="25603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66744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≤ 27,000 토큰 (단일 호출)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950208"/>
            <a:ext cx="233172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전체 번들 → LLM 단일 호출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3100" y="43525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443984"/>
            <a:ext cx="2331720" cy="402336"/>
          </a:xfrm>
          <a:prstGeom prst="rect">
            <a:avLst/>
          </a:prstGeom>
          <a:solidFill>
            <a:srgbClr val="4A7A2A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480560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이슈 JSON + Markdown 반환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639312"/>
            <a:ext cx="32004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6674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&gt; 27,000 토큰 (Map-Reduce)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50208"/>
            <a:ext cx="320040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986784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[Map] 청크 분할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159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443984"/>
            <a:ext cx="3200400" cy="402336"/>
          </a:xfrm>
          <a:prstGeom prst="rect">
            <a:avLst/>
          </a:prstGeom>
          <a:solidFill>
            <a:srgbClr val="8B3A28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44805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병렬 LLM 분석 (최대 3개, 1,000ms 지연)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8097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937760"/>
            <a:ext cx="320040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4974336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[Reduce] 청크 결과 통합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431536"/>
            <a:ext cx="3200400" cy="402336"/>
          </a:xfrm>
          <a:prstGeom prst="rect">
            <a:avLst/>
          </a:prstGeom>
          <a:solidFill>
            <a:srgbClr val="4A7A2A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468112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최종 LLM 호출 → 중복 제거 · 전체 요약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6016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71900" y="6291072"/>
            <a:ext cx="2331720" cy="402336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5052" y="6327648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CodeRiskRecord → Redis 저장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66934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71900" y="6784848"/>
            <a:ext cx="2331720" cy="402336"/>
          </a:xfrm>
          <a:prstGeom prst="rect">
            <a:avLst/>
          </a:prstGeom>
          <a:solidFill>
            <a:srgbClr val="5A9632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5052" y="6821424"/>
            <a:ext cx="2185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WebSocket /topic/analysis/result → 브라우저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6920" y="3931920"/>
            <a:ext cx="2331720" cy="1810512"/>
          </a:xfrm>
          <a:prstGeom prst="rect">
            <a:avLst/>
          </a:prstGeom>
          <a:solidFill>
            <a:srgbClr val="F1F8E9"/>
          </a:solidFill>
          <a:ln w="1016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39502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302D"/>
                </a:solidFill>
              </a:rPr>
              <a:t>설계 배경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4233672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단순 분할 시 파일 간
  연관성 손실 → 품질 저하
• Map-Reduce로 청크별
  분석 후 Reduce 통합
• Rate Limit 회피:
  1,000ms 호출 간 지연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Code Risk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🔍  Code Risk 분석 —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0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분석 진행 상황 (실시간 스트리밍)</a:t>
            </a:r>
          </a:p>
        </p:txBody>
      </p:sp>
      <p:pic>
        <p:nvPicPr>
          <p:cNvPr id="11" name="Picture 10" descr="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5486400" cy="30355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0" y="1188720"/>
            <a:ext cx="548640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0700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코드 위험 분석 결과 (파일별 이슈 목록)</a:t>
            </a:r>
          </a:p>
        </p:txBody>
      </p:sp>
      <p:pic>
        <p:nvPicPr>
          <p:cNvPr id="14" name="Picture 13" descr="Code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90472"/>
            <a:ext cx="5486400" cy="878174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4663440"/>
            <a:ext cx="1161288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8172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소스 코드 수정 제안 (Before / After 좌우 비교 팝업)</a:t>
            </a:r>
          </a:p>
        </p:txBody>
      </p:sp>
      <p:pic>
        <p:nvPicPr>
          <p:cNvPr id="17" name="Picture 16" descr="SuggestedSou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965192"/>
            <a:ext cx="11612880" cy="6808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Code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📝  Code Review — 기능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GitHub / GitLab push 이벤트를 단일 엔드포인트에서 수신하여 LLM이 변경 파일별 diff를 자동 리뷰합니다.
코드 품질 · 잠재 버그 · 보안 취약점 · 개선 제안을 구조화된 보고서로 WebSocket 대시보드에 전달합니다.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852160" cy="3200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주요 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67128"/>
            <a:ext cx="585216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GitHub / GitLab 단일 엔드포인트 (/webhook/git/{app})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5852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33472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X-Gitlab-Event 헤더 유무로 플랫폼 자동 분기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44952"/>
            <a:ext cx="585216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72384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GitHub: Compare API (before → after SHA)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83864"/>
            <a:ext cx="5852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1129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GitHub 초기 push (before = 0000...) 케이스 별도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22776"/>
            <a:ext cx="585216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0208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GitLab: Repository Compare / Commit Diff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61688"/>
            <a:ext cx="5852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89120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변경 파일별 diff → LLM 코드 리뷰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0600"/>
            <a:ext cx="585216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28031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CodeReviewRecord → Redis 저장 (히스토리 관리)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39512"/>
            <a:ext cx="5852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66944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WebSocket /topic/commit → 브라우저 실시간 전달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828800"/>
            <a:ext cx="5349240" cy="3200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8470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리뷰 관점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267712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267712"/>
            <a:ext cx="1097280" cy="713232"/>
          </a:xfrm>
          <a:prstGeom prst="rect">
            <a:avLst/>
          </a:prstGeom>
          <a:solidFill>
            <a:srgbClr val="F1F8E9"/>
          </a:solidFill>
          <a:ln w="63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302D"/>
                </a:solidFill>
              </a:rPr>
              <a:t>코드 품질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45059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가독성, 유지보수성, 명명 규칙, 구조적 문제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072384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072384"/>
            <a:ext cx="1097280" cy="713232"/>
          </a:xfrm>
          <a:prstGeom prst="rect">
            <a:avLst/>
          </a:prstGeom>
          <a:solidFill>
            <a:srgbClr val="F1F8E9"/>
          </a:solidFill>
          <a:ln w="63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2552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302D"/>
                </a:solidFill>
              </a:rPr>
              <a:t>잠재 버그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255264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NPE, 경계 조건, 예외 처리, 동시성 문제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877056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3877056"/>
            <a:ext cx="1097280" cy="713232"/>
          </a:xfrm>
          <a:prstGeom prst="rect">
            <a:avLst/>
          </a:prstGeom>
          <a:solidFill>
            <a:srgbClr val="F1F8E9"/>
          </a:solidFill>
          <a:ln w="63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0599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302D"/>
                </a:solidFill>
              </a:rPr>
              <a:t>보안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059936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인증·인가, 입력값 검증, 민감정보 노출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681728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4681728"/>
            <a:ext cx="1097280" cy="713232"/>
          </a:xfrm>
          <a:prstGeom prst="rect">
            <a:avLst/>
          </a:prstGeom>
          <a:solidFill>
            <a:srgbClr val="F1F8E9"/>
          </a:solidFill>
          <a:ln w="63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8646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302D"/>
                </a:solidFill>
              </a:rPr>
              <a:t>개선 제안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864608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리팩터링 기회, 성능 최적화, 패턴 적용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513832"/>
            <a:ext cx="534924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62356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302D"/>
                </a:solidFill>
              </a:rPr>
              <a:t>LLM 시스템 역할 프롬프트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943600"/>
            <a:ext cx="5349240" cy="8046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980176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E9178"/>
                </a:solidFill>
              </a:rPr>
              <a:t>"시니어 소프트웨어 엔지니어로서 코드 diff를 리뷰하고
 코드 품질 · 잠재 버그 · 보안 · 개선 제안을 구조화된 보고서로 제공하십시오."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Code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📝  Code Review — 처리 Flow (GitHub / GitLab)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024128"/>
            <a:ext cx="292608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060704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git push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1444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6008" y="1581912"/>
            <a:ext cx="292608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18488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 /webhook/git/{application}
수신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20025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2139696"/>
            <a:ext cx="292608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176272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X-Gitlab-Event 헤더 감지 → 플랫폼 자동 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926080"/>
            <a:ext cx="2926080" cy="256032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GitHub 경로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236976"/>
            <a:ext cx="2926080" cy="420624"/>
          </a:xfrm>
          <a:prstGeom prst="rect">
            <a:avLst/>
          </a:prstGeom>
          <a:solidFill>
            <a:srgbClr val="1A3D88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273552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owner / repo / SHA 추출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767328"/>
            <a:ext cx="2926080" cy="420624"/>
          </a:xfrm>
          <a:prstGeom prst="rect">
            <a:avLst/>
          </a:prstGeom>
          <a:solidFill>
            <a:srgbClr val="1A3D88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803904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GitHub Compare API 호출
(0000... 첫 push 케이스 별도 처리)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187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297680"/>
            <a:ext cx="2926080" cy="420624"/>
          </a:xfrm>
          <a:prstGeom prst="rect">
            <a:avLst/>
          </a:prstGeom>
          <a:solidFill>
            <a:srgbClr val="4A7A2A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334256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변경 파일별 diff → LLM 코드 리뷰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926080"/>
            <a:ext cx="2926080" cy="256032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5351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GitLab 경로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236976"/>
            <a:ext cx="2926080" cy="420624"/>
          </a:xfrm>
          <a:prstGeom prst="rect">
            <a:avLst/>
          </a:prstGeom>
          <a:solidFill>
            <a:srgbClr val="A84300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273552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project / SHA 추출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767328"/>
            <a:ext cx="2926080" cy="420624"/>
          </a:xfrm>
          <a:prstGeom prst="rect">
            <a:avLst/>
          </a:prstGeom>
          <a:solidFill>
            <a:srgbClr val="A84300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803904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GitLab Repository API 호출
(Compare / Commit Diff)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187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297680"/>
            <a:ext cx="2926080" cy="420624"/>
          </a:xfrm>
          <a:prstGeom prst="rect">
            <a:avLst/>
          </a:prstGeom>
          <a:solidFill>
            <a:srgbClr val="4A7A2A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4334256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변경 파일별 diff → LLM 코드 리뷰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4919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5193792"/>
            <a:ext cx="292608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5230368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CodeReviewRecord → Redis 저장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56144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36008" y="5705856"/>
            <a:ext cx="2926080" cy="420624"/>
          </a:xfrm>
          <a:prstGeom prst="rect">
            <a:avLst/>
          </a:prstGeom>
          <a:solidFill>
            <a:srgbClr val="5A9632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5742432"/>
            <a:ext cx="2779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WebSocket /topic/commit → 브라우저 실시간 전달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Code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📝  Code Review —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39496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GitHub Push 이벤트 수신</a:t>
            </a:r>
          </a:p>
        </p:txBody>
      </p:sp>
      <p:pic>
        <p:nvPicPr>
          <p:cNvPr id="11" name="Picture 10" descr="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5394960" cy="276073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0" y="1188720"/>
            <a:ext cx="548640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0700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코드 리뷰 결과 (파일별 diff + 리뷰 보고서)</a:t>
            </a:r>
          </a:p>
        </p:txBody>
      </p:sp>
      <p:pic>
        <p:nvPicPr>
          <p:cNvPr id="14" name="Picture 13" descr="Code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90472"/>
            <a:ext cx="5486400" cy="87057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Error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🚨  Error Analysis — 기능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Grafana 알림 수신 즉시 Loki 로그 · Prometheus 메트릭(선택) · 소스 저장소를 병렬로 조회하고
JVM stack trace에서 소스 snippet을 추출하여 LLM이 근본원인 · 영향범위 · 조치방법을 실시간 보고합니다.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943600" cy="3200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주요 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594360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Grafana 알림 수신 즉시 전체 파이프라인 자동 실행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5943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alart 레이블(job · namespace · pod) → Loki 스트림 셀렉터 자동 구성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90672"/>
            <a:ext cx="594360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18104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lokiStartNano(-5분) ~ lokiEndNano 범위 로그 자동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9584"/>
            <a:ext cx="5943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57016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Prometheus 메트릭 병렬 조회 (선택 — prometheus.url 미설정 시 스킵)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68496"/>
            <a:ext cx="594360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9592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소스 저장소 병렬 checkout (deploy branch 설정 시 수행)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5943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Loki 로그에서 JVM stack trace 파싱 → 관련 소스 파일 · 라인 특정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46320"/>
            <a:ext cx="594360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7375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focused source snippet 추출 (전체 저장소 LLM 전달 않음)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85231"/>
            <a:ext cx="5943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12664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 소스 수정 권고안 JSON 반환 (filePath · originalCode · suggestionCode)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874519"/>
            <a:ext cx="5257800" cy="3200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89280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LLM 입력 구성 (4가지 컨텍스트)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331720"/>
            <a:ext cx="5257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2331720"/>
            <a:ext cx="52578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44144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302D"/>
                </a:solidFill>
              </a:rPr>
              <a:t>📋  알림 컨텍스트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770632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알림 레이블 (job/namespace/pod)
심각도 · 발생 시각 · 알림 이름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355848"/>
            <a:ext cx="5257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3355848"/>
            <a:ext cx="5257800" cy="73152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4655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302D"/>
                </a:solidFill>
              </a:rPr>
              <a:t>📜  Loki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7947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ERROR / WARN 로그 라인
(alert 기준 ±5분 자동 조회)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379976"/>
            <a:ext cx="5257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4379976"/>
            <a:ext cx="5257800" cy="73152"/>
          </a:xfrm>
          <a:prstGeom prst="rect">
            <a:avLst/>
          </a:prstGeom>
          <a:solidFill>
            <a:srgbClr val="E6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4897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302D"/>
                </a:solidFill>
              </a:rPr>
              <a:t>📊  Prometheus 메트릭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1888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같은 레이블·시간 구간의
메트릭 시계열 (선택)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5404104"/>
            <a:ext cx="5257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5404104"/>
            <a:ext cx="5257800" cy="73152"/>
          </a:xfrm>
          <a:prstGeom prst="rect">
            <a:avLst/>
          </a:prstGeom>
          <a:solidFill>
            <a:srgbClr val="5A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51383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302D"/>
                </a:solidFill>
              </a:rPr>
              <a:t>💾  소스 snippet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843016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stack trace → 관련 파일·라인
focused snippet만 추출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Error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🚨  Error Analysis — 처리 Flow (병렬 처리 포함)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024128"/>
            <a:ext cx="274320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06070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Grafana Alert 발생 (FIRING)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1444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6704" y="1572768"/>
            <a:ext cx="274320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160934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 /webhook/grafana/{application}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6704" y="2121408"/>
            <a:ext cx="274320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15798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RESOLVED 체크 → Early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5420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6704" y="2670048"/>
            <a:ext cx="274320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270662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알림 레이블 → Loki 셀렉터 · 시간 범위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821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3가지 병렬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30752"/>
            <a:ext cx="2560320" cy="256032"/>
          </a:xfrm>
          <a:prstGeom prst="rect">
            <a:avLst/>
          </a:prstGeom>
          <a:solidFill>
            <a:srgbClr val="E6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758184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① Loki 로그 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041648"/>
            <a:ext cx="2560320" cy="420624"/>
          </a:xfrm>
          <a:prstGeom prst="rect">
            <a:avLst/>
          </a:prstGeom>
          <a:solidFill>
            <a:srgbClr val="8B4200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" y="4078224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GET /loki/api/v1/query_range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553712"/>
            <a:ext cx="2560320" cy="420624"/>
          </a:xfrm>
          <a:prstGeom prst="rect">
            <a:avLst/>
          </a:prstGeom>
          <a:solidFill>
            <a:srgbClr val="8B4200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459028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ERROR / WARN 로그 수집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9469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065776"/>
            <a:ext cx="256032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" y="510235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JVM stack trace 파싱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4589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577840"/>
            <a:ext cx="256032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5614416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소스 파일 resolve
→ focused snippet 추출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730752"/>
            <a:ext cx="2560320" cy="256032"/>
          </a:xfrm>
          <a:prstGeom prst="rect">
            <a:avLst/>
          </a:prstGeom>
          <a:solidFill>
            <a:srgbClr val="E6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3758184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② Prometheus 조회 (선택)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041648"/>
            <a:ext cx="2560320" cy="420624"/>
          </a:xfrm>
          <a:prstGeom prst="rect">
            <a:avLst/>
          </a:prstGeom>
          <a:solidFill>
            <a:srgbClr val="8B4200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9392" y="4078224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GET /api/v1/query_range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553712"/>
            <a:ext cx="256032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9392" y="459028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같은 레이블 · 시간 구간
메트릭 시계열 수집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49469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065776"/>
            <a:ext cx="2560320" cy="420624"/>
          </a:xfrm>
          <a:prstGeom prst="rect">
            <a:avLst/>
          </a:prstGeom>
          <a:solidFill>
            <a:srgbClr val="4A7A2A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510235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prometheus.url 미설정 시
→ 자동 스킵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730752"/>
            <a:ext cx="2560320" cy="256032"/>
          </a:xfrm>
          <a:prstGeom prst="rect">
            <a:avLst/>
          </a:prstGeom>
          <a:solidFill>
            <a:srgbClr val="5A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3758184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③ 소스 저장소 준비 (선택)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041648"/>
            <a:ext cx="256032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4078224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deploy branch 설정 시 수행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553712"/>
            <a:ext cx="256032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459028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JGit checkout
(persistent sync / 임시 clone)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9469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5065776"/>
            <a:ext cx="2560320" cy="420624"/>
          </a:xfrm>
          <a:prstGeom prst="rect">
            <a:avLst/>
          </a:prstGeom>
          <a:solidFill>
            <a:srgbClr val="4A7A2A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510235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stack trace 기반
소스 snippet 추출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9704" y="61630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46704" y="6419088"/>
            <a:ext cx="2743200" cy="420624"/>
          </a:xfrm>
          <a:prstGeom prst="rect">
            <a:avLst/>
          </a:prstGeom>
          <a:solidFill>
            <a:srgbClr val="6B2A20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19856" y="645566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알림 + 로그 + 메트릭 + snippet → LLM 분석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9704" y="6812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46704" y="6931152"/>
            <a:ext cx="2743200" cy="420624"/>
          </a:xfrm>
          <a:prstGeom prst="rect">
            <a:avLst/>
          </a:prstGeom>
          <a:solidFill>
            <a:srgbClr val="34302D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19856" y="6967728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AnalyzeFiringRecord → Redis 저장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9704" y="73243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B33F"/>
                </a:solidFill>
              </a:rPr>
              <a:t>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46704" y="7443216"/>
            <a:ext cx="2743200" cy="420624"/>
          </a:xfrm>
          <a:prstGeom prst="rect">
            <a:avLst/>
          </a:prstGeom>
          <a:solidFill>
            <a:srgbClr val="5A9632"/>
          </a:solidFill>
          <a:ln w="12700">
            <a:solidFill>
              <a:srgbClr val="5A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19856" y="747979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WebSocket /topic/firing → 브라우저 실시간 전달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Error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🚨  Error Analysis —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39496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Grafana Alerting Webhook 수신 대시보드</a:t>
            </a:r>
          </a:p>
        </p:txBody>
      </p:sp>
      <p:pic>
        <p:nvPicPr>
          <p:cNvPr id="11" name="Picture 10" descr="GrafanaAle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5394960" cy="225776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0" y="1188720"/>
            <a:ext cx="548640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0700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근본원인 분석 결과 (실시간 스트리밍)</a:t>
            </a:r>
          </a:p>
        </p:txBody>
      </p:sp>
      <p:pic>
        <p:nvPicPr>
          <p:cNvPr id="14" name="Picture 13" descr="FiringAnaly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90472"/>
            <a:ext cx="5486400" cy="2087344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4663440"/>
            <a:ext cx="1161288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8172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소스 수정 권고안 (stack trace 기반 → Before / After 비교 팝업)</a:t>
            </a:r>
          </a:p>
        </p:txBody>
      </p:sp>
      <p:pic>
        <p:nvPicPr>
          <p:cNvPr id="17" name="Picture 16" descr="SuggestedSou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965192"/>
            <a:ext cx="11612880" cy="68081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Observability 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📡  Observability 연동 — Loki · Prometheus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Loki는 Grafana 장애 분석의 필수 데이터 소스입니다. Prometheus는 선택 사항으로,
설정 시 메트릭 시계열을 LLM 분석 컨텍스트에 포함하고 대시보드에 애플리케이션별 시각화를 제공합니다.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01952"/>
            <a:ext cx="539496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Observability 연동 설정 화면</a:t>
            </a:r>
          </a:p>
        </p:txBody>
      </p:sp>
      <p:pic>
        <p:nvPicPr>
          <p:cNvPr id="12" name="Picture 11" descr="Observability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3704"/>
            <a:ext cx="5394960" cy="31628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0" y="1901952"/>
            <a:ext cx="5486400" cy="2743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Prometheus 기반 애플리케이션 메트릭 시각화</a:t>
            </a:r>
          </a:p>
        </p:txBody>
      </p:sp>
      <p:pic>
        <p:nvPicPr>
          <p:cNvPr id="15" name="Picture 14" descr="Metric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03704"/>
            <a:ext cx="5486400" cy="2273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4320" y="5596128"/>
            <a:ext cx="11612880" cy="45720"/>
          </a:xfrm>
          <a:prstGeom prst="rect">
            <a:avLst/>
          </a:prstGeom>
          <a:solidFill>
            <a:srgbClr val="E6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715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302D"/>
                </a:solidFill>
              </a:rPr>
              <a:t>Prometheus 메트릭 시각화 항목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533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▸  JVM 메모리 사용량 (used% · allocated MB · used MB)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60533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▸  프로세스 업타임 · 열린 파일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459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▸  CPU 사용률 (system · process)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63459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▸  평균 HTTP 레이턴시 · 응답 상태 분포 (2xx/4xx/5xx) — 시계열 차트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🍃 Spring AI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A29E"/>
                </a:solidFill>
              </a:rPr>
              <a:t>기술 스택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" cy="2743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58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302D"/>
                </a:solidFill>
              </a:rPr>
              <a:t>⚙️  기술 스택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58600" cy="347472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207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기술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207008"/>
            <a:ext cx="6263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54480"/>
            <a:ext cx="19659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1554480"/>
            <a:ext cx="33375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1554480"/>
            <a:ext cx="626364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618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언어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61848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Kotlin 2.2 / Java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618488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Virtual Thread 기반 비동기 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002536"/>
            <a:ext cx="19659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2002536"/>
            <a:ext cx="3337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2002536"/>
            <a:ext cx="6263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066543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프레임워크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06654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Spring Boot 3.4.4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066543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WebMVC + WebSocket (STOMP/SockJS) + Embedded Redis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50591"/>
            <a:ext cx="19659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2450591"/>
            <a:ext cx="33375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2450591"/>
            <a:ext cx="626364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514599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514599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Spring AI 1.1.0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514599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OpenAI (gpt-4o-mini) / Anthropic (claude-sonnet-4-6) / DeepSeek (deepseek-v4-pro, OpenAI 호환 API)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98648"/>
            <a:ext cx="19659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0" y="2898648"/>
            <a:ext cx="3337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0" y="2898648"/>
            <a:ext cx="6263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626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관측성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2962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Loki (필수) + Prometheus (선택)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962656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로그 조회 · 메트릭 시계열 · Grafana 알림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46704"/>
            <a:ext cx="19659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3346704"/>
            <a:ext cx="33375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0" y="3346704"/>
            <a:ext cx="626364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4107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HTTP 클라이언트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34107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Spring Cloud OpenFeign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410712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Resilience4j Circuit Breaker · TimeLimiter 연동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794760"/>
            <a:ext cx="19659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0" y="3794760"/>
            <a:ext cx="3337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0" y="3794760"/>
            <a:ext cx="6263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8587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저장소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85876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Redis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3858768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유일한 데이터 저장소 (RDB 미사용) / 로컬 개발 시 Embedded Redis 자동 기동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242816"/>
            <a:ext cx="19659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0" y="4242816"/>
            <a:ext cx="33375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0" y="4242816"/>
            <a:ext cx="626364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3068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보안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77440" y="43068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AES-256-GCM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306824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LLM API Key · Git Token 암호화 저장 / CSRF 토큰 보호 (/api/code-risk/**)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690872"/>
            <a:ext cx="19659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0" y="4690872"/>
            <a:ext cx="3337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0" y="4690872"/>
            <a:ext cx="6263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7548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API 문서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7440" y="47548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springdoc-openapi 2.8.3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4754880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Swagger UI (http://localhost:7079/swagger-ui.html)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138928"/>
            <a:ext cx="19659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86000" y="5138928"/>
            <a:ext cx="333756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69280" y="5138928"/>
            <a:ext cx="6263640" cy="429768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029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302D"/>
                </a:solidFill>
              </a:rPr>
              <a:t>비동기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7440" y="52029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9632"/>
                </a:solidFill>
              </a:rPr>
              <a:t>Virtual Thread + Semaphore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0" y="5202936"/>
            <a:ext cx="6080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SimpleAsyncTaskExecutor (200 동시) + LLM 호출 Semaphore (기본 10)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623560"/>
            <a:ext cx="1165860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57332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302D"/>
                </a:solidFill>
              </a:rPr>
              <a:t>아키텍처 특이사항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053328"/>
            <a:ext cx="1165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▸  Spring AI AutoConfiguration 전면 비활성화 → AiModelService에서 ChatModel 직접 빌드 (재시작 없이 LLM 전환 / DeepSeek는 OpenAI 호환 API 사용)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345936"/>
            <a:ext cx="1165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▸  Virtual Thread + Semaphore: 동시 LLM 호출 수 상한 (기본 10) · cancel-running-future=false로 Virtual Thread interrupt 문제 회피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🍃  Spring AI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51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A29E"/>
                </a:solidFill>
              </a:rPr>
              <a:t>AI 기반 운영 자동화 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5" y="2057400"/>
            <a:ext cx="3291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955" y="2057400"/>
            <a:ext cx="3291840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" y="2240280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302D"/>
                </a:solidFill>
              </a:rPr>
              <a:t>Code Risk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" y="322783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</a:rPr>
              <a:t>전체 코드베이스 AI 분석
Map-Reduce · Persistent Repo · 소스 수정 권고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8555" y="2057400"/>
            <a:ext cx="3291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8555" y="2057400"/>
            <a:ext cx="3291840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8555" y="2240280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555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302D"/>
                </a:solidFill>
              </a:rPr>
              <a:t>Code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995" y="322783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</a:rPr>
              <a:t>GitHub / GitLab push 자동 리뷰
단일 엔드포인트 · 플랫폼 자동 분기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6156" y="2057400"/>
            <a:ext cx="3291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6156" y="2057400"/>
            <a:ext cx="3291840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6156" y="2240280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6156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302D"/>
                </a:solidFill>
              </a:rPr>
              <a:t>Error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596" y="322783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</a:rPr>
              <a:t>Grafana + Loki + Prometheus
+ stack trace snippet AI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57200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4302D"/>
                </a:solidFill>
              </a:rPr>
              <a:t>Q &amp;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376672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